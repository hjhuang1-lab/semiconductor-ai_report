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3566160"/>
            <a:ext cx="4114800" cy="36576"/>
          </a:xfrm>
          <a:prstGeom prst="rect">
            <a:avLst/>
          </a:prstGeom>
          <a:solidFill>
            <a:srgbClr val="FDE047"/>
          </a:solidFill>
          <a:ln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944849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400"/>
              </a:spcAft>
              <a:defRPr sz="3600" b="1">
                <a:solidFill>
                  <a:srgbClr val="F8FAFC"/>
                </a:solidFill>
                <a:latin typeface="Microsoft JhengHei"/>
              </a:defRPr>
            </a:pPr>
            <a:r>
              <a:t>AI Agent 驅動半導體良率革新：智慧製程與未來展望</a:t>
            </a:r>
          </a:p>
          <a:p>
            <a:pPr>
              <a:defRPr sz="1800" b="1">
                <a:solidFill>
                  <a:srgbClr val="38BDF8"/>
                </a:solidFill>
                <a:latin typeface="Microsoft JhengHei"/>
              </a:defRPr>
            </a:pPr>
            <a:r>
              <a:t>洞察全球最新趨勢與良率深度解析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484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AI 研究小組 | 2024-07-30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38BDF8"/>
                </a:solidFill>
                <a:latin typeface="Microsoft JhengHei"/>
              </a:defRPr>
            </a:pPr>
            <a:r>
              <a:t>AI Agent 賦能半導體製造：良率提升新範式</a:t>
            </a:r>
          </a:p>
          <a:p>
            <a:pPr>
              <a:defRPr sz="1300">
                <a:solidFill>
                  <a:srgbClr val="94A3B8"/>
                </a:solidFill>
                <a:latin typeface="Microsoft JhengHei"/>
              </a:defRPr>
            </a:pPr>
            <a:r>
              <a:t>從數據分析到自主決策，引領製程智慧化轉型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429768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製程複雜度與良率挑戰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隨著半導體技術邁入亞奈米時代，製程複雜度呈指數級增長，傳統控制方法難以應對高維度、非線性數據。良率控制成為產業競爭核心，AI Agent 具備自主學習、推理與行動能力，為解決此瓶頸帶來革命性潛力。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9535" y="1645920"/>
            <a:ext cx="493776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575" y="1965960"/>
            <a:ext cx="429768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AI Agent 角色演進與潛力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AI Agent 正從被動數據分析工具，轉變為具備決策能力的智能實體。其能實時監控數百個製程變量，預測微小偏差，並執行主動調整。預計可將良率提升 1.7% 以上，誤報率降低 40%，MTTD 縮短 30%。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38BDF8"/>
                </a:solidFill>
                <a:latin typeface="Microsoft JhengHei"/>
              </a:defRPr>
            </a:pPr>
            <a:r>
              <a:t>智慧製程控制：AI Agent 實現預測性與精準化</a:t>
            </a:r>
          </a:p>
          <a:p>
            <a:pPr>
              <a:defRPr sz="1300">
                <a:solidFill>
                  <a:srgbClr val="94A3B8"/>
                </a:solidFill>
                <a:latin typeface="Microsoft JhengHei"/>
              </a:defRPr>
            </a:pPr>
            <a:r>
              <a:t>告別反應式管理，邁向主動預防與實時優化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AI 增強型 SPC/APC 系統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傳統 SPC/APC 面臨高維數據限制，AI 系統利用 LSTM、Autoencoders、Random Forest 等算法，同時監控數百個製程變量，精準識別微小異常。實現從被動應對轉為主動預防，確保嚴格質量標準。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519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523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實時漂移預測與虛擬計量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AI 系統能在數秒內預測製程漂移並執行實時調整，相較傳統數小時的延遲大幅縮短。透過深度學習模型構建虛擬計量，在實際加工前估計關鍵指標，提升決策效率，縮短產品上市時間。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598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602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Agentic AI 系統的轉變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半導體製造正從傳統 R2R 系統轉向 Agentic AI，這些系統能理解領域知識，從每次結果中學習改進。Intel 智能工廠動態調整參數，Averroes AI 提供實時漂移管理，Oxmaint 平台已將良率提升 18%。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38BDF8"/>
                </a:solidFill>
                <a:latin typeface="Microsoft JhengHei"/>
              </a:defRPr>
            </a:pPr>
            <a:r>
              <a:t>缺陷偵測革命：AI Agent 實現精準識別與快速診斷</a:t>
            </a:r>
          </a:p>
          <a:p>
            <a:pPr>
              <a:defRPr sz="1300">
                <a:solidFill>
                  <a:srgbClr val="94A3B8"/>
                </a:solidFill>
                <a:latin typeface="Microsoft JhengHei"/>
              </a:defRPr>
            </a:pPr>
            <a:r>
              <a:t>從視覺檢測到語義理解，加速良率提升週期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AI 驅動的視覺檢測與生成式 AI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AI 視覺檢測系統超越人類，分析超高分辨率 SEM 圖像，檢測微觀缺陷。NVIDIA 應用生成式 AI、VFMs 現代化 ADC，大幅減少標註數據需求，NVIDIA Cosmos Reason VLM 在晶圓缺陷分類達 96% 準確度。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519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523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智能根因分析 (RCA) 與設計整合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AI 將良率分析從手動轉為主動，大規模分析檢測圖像，將缺陷與工具歷史、製程步驟關聯。可將良率損失根因週期縮短 75-90%。AI 整合設計信息，優化檢測配方，提高系統性缺陷檢測能力。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598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602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深度學習應用與產業實踐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深度學習網絡如 ViT、1D CNN 在 SEM 圖像缺陷分類中表現卓越，即使少量數據也能達 90% 以上準確度。Intel 利用 AI 工作流程自動識別 GFA，TSMC 深度學習系統將缺陷率降低 40%，良率提升 20%。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38BDF8"/>
                </a:solidFill>
                <a:latin typeface="Microsoft JhengHei"/>
              </a:defRPr>
            </a:pPr>
            <a:r>
              <a:t>領域專用智慧：SemiKong 與 Agent Yield Stack 構建良率治理新框架</a:t>
            </a:r>
          </a:p>
          <a:p>
            <a:pPr>
              <a:defRPr sz="1300">
                <a:solidFill>
                  <a:srgbClr val="94A3B8"/>
                </a:solidFill>
                <a:latin typeface="Microsoft JhengHei"/>
              </a:defRPr>
            </a:pPr>
            <a:r>
              <a:t>知識傳承與協同智能，加速半導體創新週期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AI Agent 興起與知識傳承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隨著資深專家退休，AI Agent 提供保存和擴展專業知識的機會。Aitomatic 的 Domain-Expert Agents (DXAs) 基於 DANA 神經符號架構，通過「捕捉-訓練-應用」生命週期，系統性解決專業知識瓶頸。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519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523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SemiKong：半導體專用 LLM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Aitomatic、TEL、FPT 合作開發的 SemiKong 是全球首個半導體開源 LLM，基於 Llama 3.1 70B，微調數億 tokens 專業數據。預計縮短新晶片設計上市時間 20-30%，提高首次成功率 15-25%。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598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602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Agent Yield Stack 概念與 DXA Factory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Agent Yield Stack 體現多領域專家 Agent 協同工作，實現良率全面智能治理。Aitomatic DXA Factory 平台旨在創建數十億個 Agent，捕捉企業認知本體，自動構建知識圖譜，實現良率持續優化。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38BDF8"/>
                </a:solidFill>
                <a:latin typeface="Microsoft JhengHei"/>
              </a:defRPr>
            </a:pPr>
            <a:r>
              <a:t>異質整合挑戰：AI Agent 協同優化先進封裝與 HBM 良率</a:t>
            </a:r>
          </a:p>
          <a:p>
            <a:pPr>
              <a:defRPr sz="1300">
                <a:solidFill>
                  <a:srgbClr val="94A3B8"/>
                </a:solidFill>
                <a:latin typeface="Microsoft JhengHei"/>
              </a:defRPr>
            </a:pPr>
            <a:r>
              <a:t>跨製程數據融合，打造高密度晶片生產新引擎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先進封裝與 HBM 的良率挑戰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CoWoS、異質整合、HBM 等技術複雜性高，涉及多晶片、異質材料與複雜互連，微小缺陷即導致模組失效。傳統單一製程控制不足，AI 需整合設計、製造、測試數據，應對前所未有挑戰。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519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523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AI 驅動的設計、製造與測試整合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AI 在晶片設計階段自動化佈局，縮短週期。製造中，AI 視覺檢測、實時製程控制、預測性維護直接提升基礎晶片與組裝良率。測試環節，AI 優化測試路徑，DDYA 將根因週期縮短 75-90%。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598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602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Agentic AI 的協同作用與產業實踐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在複雜先進封裝生態中，不同 AI Agent 協同工作，監控晶圓製造、封裝缺陷、HBM 質量。Agent 間共享信息、學習，共同優化整體良率，形成「Agent Yield Stack」。TSMC、Intel、Samsung 均將 AI 應用於先進製程與封裝。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38BDF8"/>
                </a:solidFill>
                <a:latin typeface="Microsoft JhengHei"/>
              </a:defRPr>
            </a:pPr>
            <a:r>
              <a:t>AI Agent 引領半導體製造新紀元</a:t>
            </a:r>
          </a:p>
          <a:p>
            <a:pPr>
              <a:defRPr sz="1300">
                <a:solidFill>
                  <a:srgbClr val="94A3B8"/>
                </a:solidFill>
                <a:latin typeface="Microsoft JhengHei"/>
              </a:defRPr>
            </a:pPr>
            <a:r>
              <a:t>邁向智能、自優化與自修復的晶圓廠未來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AI Agent 驅動的產業變革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AI Agent 正將半導體製造從反應式、手動干預轉變為預測性、自主化和智能化的生態系統。從自主製程控制到智能缺陷診斷，再到領域專用模型，AI 正在全面提升良率，加速產品上市。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519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523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應對未來挑戰的關鍵能力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面對先進封裝、HBM 等複雜技術，AI Agent 的協同良率控制能力不可或缺。通過整合跨製程、跨設備數據，利用領域專用知識和多 Agent 協作，製造商能更快速、精確地解決良率問題。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5980" y="1645920"/>
            <a:ext cx="3200400" cy="438912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6020" y="1965960"/>
            <a:ext cx="2560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DE047"/>
                </a:solidFill>
                <a:latin typeface="Microsoft JhengHei"/>
              </a:defRPr>
            </a:pPr>
            <a:r>
              <a:t>📍 展望智能晶圓廠的未來</a:t>
            </a:r>
          </a:p>
          <a:p>
            <a:pPr>
              <a:lnSpc>
                <a:spcPct val="135000"/>
              </a:lnSpc>
              <a:defRPr sz="1200">
                <a:solidFill>
                  <a:srgbClr val="CBD5E1"/>
                </a:solidFill>
                <a:latin typeface="Microsoft JhengHei"/>
              </a:defRPr>
            </a:pPr>
            <a:r>
              <a:t>隨著 AI Agent 系統的成熟與普及，我們將見證更加智能、自優化和自修復的晶圓廠。這將為下一代高性能晶片的生產奠定堅實基礎，持續推動半導體製造業的創新與效率提升。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8534095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61969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F8FAFC"/>
                </a:solidFill>
                <a:latin typeface="Microsoft JhengHei"/>
              </a:defRPr>
            </a:pPr>
            <a:r>
              <a:t>簡報結束，謝謝聆聽</a:t>
            </a:r>
          </a:p>
          <a:p>
            <a:pPr algn="l">
              <a:defRPr sz="1400">
                <a:solidFill>
                  <a:srgbClr val="38BDF8"/>
                </a:solidFill>
                <a:latin typeface="Segoe UI"/>
              </a:defRPr>
            </a:pPr>
            <a:r>
              <a:t>AI Agent &amp; Semiconductor Yield Enhancement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